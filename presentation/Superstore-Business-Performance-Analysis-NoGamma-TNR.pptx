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75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Times New Roman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889" y="1242492"/>
            <a:ext cx="77316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Superstore Business Performance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67519" y="1968996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Storytelling &amp; Statistical Validation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390701"/>
            <a:ext cx="815176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5" name="Shape 3"/>
          <p:cNvSpPr/>
          <p:nvPr/>
        </p:nvSpPr>
        <p:spPr>
          <a:xfrm>
            <a:off x="394022" y="2596158"/>
            <a:ext cx="4107135" cy="1304851"/>
          </a:xfrm>
          <a:prstGeom prst="roundRect">
            <a:avLst>
              <a:gd name="adj" fmla="val 7823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6" name="Text 4"/>
          <p:cNvSpPr/>
          <p:nvPr/>
        </p:nvSpPr>
        <p:spPr>
          <a:xfrm>
            <a:off x="535781" y="27379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5781" y="3101132"/>
            <a:ext cx="3823618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Analytics Internship — </a:t>
            </a: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ApexPlanet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by: </a:t>
            </a: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Meghana 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49701" y="27379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49701" y="3118842"/>
            <a:ext cx="66064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0" name="Text 8"/>
          <p:cNvSpPr/>
          <p:nvPr/>
        </p:nvSpPr>
        <p:spPr>
          <a:xfrm>
            <a:off x="4839519" y="3166095"/>
            <a:ext cx="9382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1191" y="3118842"/>
            <a:ext cx="63609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2" name="Text 10"/>
          <p:cNvSpPr/>
          <p:nvPr/>
        </p:nvSpPr>
        <p:spPr>
          <a:xfrm>
            <a:off x="5571009" y="3166095"/>
            <a:ext cx="91365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88125" y="3118842"/>
            <a:ext cx="68803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4" name="Text 12"/>
          <p:cNvSpPr/>
          <p:nvPr/>
        </p:nvSpPr>
        <p:spPr>
          <a:xfrm>
            <a:off x="6277942" y="3166095"/>
            <a:ext cx="9655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6999" y="3118842"/>
            <a:ext cx="135984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6" name="Text 14"/>
          <p:cNvSpPr/>
          <p:nvPr/>
        </p:nvSpPr>
        <p:spPr>
          <a:xfrm>
            <a:off x="7036817" y="3166095"/>
            <a:ext cx="163740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JUPYTER NOTEBOOK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49701" y="3465612"/>
            <a:ext cx="140493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8" name="Text 16"/>
          <p:cNvSpPr/>
          <p:nvPr/>
        </p:nvSpPr>
        <p:spPr>
          <a:xfrm>
            <a:off x="4839519" y="3512865"/>
            <a:ext cx="168250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TESTING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05086"/>
            <a:ext cx="1325389" cy="214759"/>
          </a:xfrm>
          <a:prstGeom prst="roundRect">
            <a:avLst>
              <a:gd name="adj" fmla="val 188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sz="20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75" y="864245"/>
            <a:ext cx="96366" cy="963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2887" y="841177"/>
            <a:ext cx="1493565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OBJECTIVE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1060772"/>
            <a:ext cx="4275386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We Solving For?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590898"/>
            <a:ext cx="8151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analysis transforms raw Superstore transactional data into strategic business intelligence — enabling leadership to make confident, data-backed decisions.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62683"/>
            <a:ext cx="301228" cy="3012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2491904"/>
            <a:ext cx="2087166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6119" y="2741563"/>
            <a:ext cx="40118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 sales and profitability trends across segments, categories, and regions.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996" y="2062683"/>
            <a:ext cx="301228" cy="3012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5996" y="2491904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Discount Impact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35996" y="2741563"/>
            <a:ext cx="44690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how discount strategies affect profit margins at scale.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02943"/>
            <a:ext cx="301228" cy="3012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32163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 Dashboard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3981822"/>
            <a:ext cx="40118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 interactive Tableau dashboard for dynamic stakeholder exploration.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996" y="3302943"/>
            <a:ext cx="301228" cy="3012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35996" y="3732163"/>
            <a:ext cx="210829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Decisions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635996" y="3981822"/>
            <a:ext cx="40118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leadership with evidence-based insights and statistical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6579"/>
            <a:ext cx="1316682" cy="231651"/>
          </a:xfrm>
          <a:prstGeom prst="roundRect">
            <a:avLst>
              <a:gd name="adj" fmla="val 1850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616" y="791394"/>
            <a:ext cx="102022" cy="102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5612" y="764828"/>
            <a:ext cx="1467892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1004143"/>
            <a:ext cx="4390058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Superstore Sales Dataset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67692" y="1638821"/>
            <a:ext cx="3832324" cy="42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9,994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472133" y="2209726"/>
            <a:ext cx="18234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Records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67519" y="2477839"/>
            <a:ext cx="423274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Transactional order entries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15309" y="1638821"/>
            <a:ext cx="3832324" cy="42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619750" y="2209726"/>
            <a:ext cx="18234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15135" y="2477839"/>
            <a:ext cx="423274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Attributes per record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119" y="2843957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Attributes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96119" y="3215432"/>
            <a:ext cx="8151763" cy="463897"/>
          </a:xfrm>
          <a:prstGeom prst="roundRect">
            <a:avLst>
              <a:gd name="adj" fmla="val 11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500881" y="3220194"/>
            <a:ext cx="2714030" cy="454372"/>
          </a:xfrm>
          <a:prstGeom prst="roundRect">
            <a:avLst>
              <a:gd name="adj" fmla="val 117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28427" y="3347740"/>
            <a:ext cx="2263378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 · Profit · Discount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14911" y="3220194"/>
            <a:ext cx="2714104" cy="454372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3214911" y="3220194"/>
            <a:ext cx="14288" cy="454372"/>
          </a:xfrm>
          <a:prstGeom prst="roundRect">
            <a:avLst>
              <a:gd name="adj" fmla="val 37505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3342456" y="3347740"/>
            <a:ext cx="267540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· Region · Segment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29015" y="3220194"/>
            <a:ext cx="2714104" cy="454372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929015" y="3220194"/>
            <a:ext cx="14288" cy="454372"/>
          </a:xfrm>
          <a:prstGeom prst="roundRect">
            <a:avLst>
              <a:gd name="adj" fmla="val 37505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056561" y="3347740"/>
            <a:ext cx="2069083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Date · Order ID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96119" y="3851523"/>
            <a:ext cx="266394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 Applied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96119" y="4222998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Year, Month, and </a:t>
            </a:r>
            <a:r>
              <a:rPr lang="en-US" sz="10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 Margin</a:t>
            </a: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derived columns were engineered post data cleaning and preprocessing in Python/Pandas.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4438"/>
            <a:ext cx="840804" cy="231651"/>
          </a:xfrm>
          <a:prstGeom prst="roundRect">
            <a:avLst>
              <a:gd name="adj" fmla="val 1850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616" y="809253"/>
            <a:ext cx="102022" cy="102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5612" y="782687"/>
            <a:ext cx="992014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KPIS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1022003"/>
            <a:ext cx="5784503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Performance at a Glance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96119" y="1592907"/>
            <a:ext cx="2640657" cy="1345629"/>
          </a:xfrm>
          <a:prstGeom prst="roundRect">
            <a:avLst>
              <a:gd name="adj" fmla="val 398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28427" y="1725216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8427" y="1993329"/>
            <a:ext cx="2833241" cy="55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$2.3M</a:t>
            </a:r>
            <a:endParaRPr lang="en-US" sz="3450" dirty="0"/>
          </a:p>
        </p:txBody>
      </p:sp>
      <p:sp>
        <p:nvSpPr>
          <p:cNvPr id="9" name="Text 6"/>
          <p:cNvSpPr/>
          <p:nvPr/>
        </p:nvSpPr>
        <p:spPr>
          <a:xfrm>
            <a:off x="628427" y="2612306"/>
            <a:ext cx="2833241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Cumulative revenue across all orders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51597" y="1592907"/>
            <a:ext cx="2640732" cy="1345629"/>
          </a:xfrm>
          <a:prstGeom prst="roundRect">
            <a:avLst>
              <a:gd name="adj" fmla="val 398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383905" y="1725216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Profit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383905" y="1993329"/>
            <a:ext cx="2833315" cy="55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$286K</a:t>
            </a:r>
            <a:endParaRPr lang="en-US" sz="3450" dirty="0"/>
          </a:p>
        </p:txBody>
      </p:sp>
      <p:sp>
        <p:nvSpPr>
          <p:cNvPr id="13" name="Text 10"/>
          <p:cNvSpPr/>
          <p:nvPr/>
        </p:nvSpPr>
        <p:spPr>
          <a:xfrm>
            <a:off x="3383905" y="2612306"/>
            <a:ext cx="2833315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 profit after costs and discounts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07150" y="1592907"/>
            <a:ext cx="2640732" cy="1345629"/>
          </a:xfrm>
          <a:prstGeom prst="roundRect">
            <a:avLst>
              <a:gd name="adj" fmla="val 398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139458" y="1725216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39458" y="1993329"/>
            <a:ext cx="2833315" cy="55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12.03%</a:t>
            </a:r>
            <a:endParaRPr lang="en-US" sz="3450" dirty="0"/>
          </a:p>
        </p:txBody>
      </p:sp>
      <p:sp>
        <p:nvSpPr>
          <p:cNvPr id="17" name="Text 14"/>
          <p:cNvSpPr/>
          <p:nvPr/>
        </p:nvSpPr>
        <p:spPr>
          <a:xfrm>
            <a:off x="6139458" y="2612306"/>
            <a:ext cx="2833315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 as a percentage of total sales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6119" y="3053358"/>
            <a:ext cx="4018434" cy="1345629"/>
          </a:xfrm>
          <a:prstGeom prst="roundRect">
            <a:avLst>
              <a:gd name="adj" fmla="val 398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28427" y="3185666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8427" y="3453780"/>
            <a:ext cx="4211017" cy="55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5K</a:t>
            </a:r>
            <a:endParaRPr lang="en-US" sz="3450" dirty="0"/>
          </a:p>
        </p:txBody>
      </p:sp>
      <p:sp>
        <p:nvSpPr>
          <p:cNvPr id="21" name="Text 18"/>
          <p:cNvSpPr/>
          <p:nvPr/>
        </p:nvSpPr>
        <p:spPr>
          <a:xfrm>
            <a:off x="628427" y="4072756"/>
            <a:ext cx="4211017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orders processed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29373" y="3053358"/>
            <a:ext cx="4018508" cy="1345629"/>
          </a:xfrm>
          <a:prstGeom prst="roundRect">
            <a:avLst>
              <a:gd name="adj" fmla="val 398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4761681" y="3185666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Avg. Order Value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761681" y="3453780"/>
            <a:ext cx="4211092" cy="55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$458.6</a:t>
            </a:r>
            <a:endParaRPr lang="en-US" sz="3450" dirty="0"/>
          </a:p>
        </p:txBody>
      </p:sp>
      <p:sp>
        <p:nvSpPr>
          <p:cNvPr id="25" name="Text 22"/>
          <p:cNvSpPr/>
          <p:nvPr/>
        </p:nvSpPr>
        <p:spPr>
          <a:xfrm>
            <a:off x="4761681" y="4072756"/>
            <a:ext cx="4211092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revenue generated per order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00683"/>
            <a:ext cx="901750" cy="198611"/>
          </a:xfrm>
          <a:prstGeom prst="roundRect">
            <a:avLst>
              <a:gd name="adj" fmla="val 1918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sz="20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33" y="754633"/>
            <a:ext cx="90711" cy="90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162" y="734690"/>
            <a:ext cx="1086892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935534"/>
            <a:ext cx="356927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Data Reveals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96119" y="1535460"/>
            <a:ext cx="2134121" cy="1353517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7" name="Shape 4"/>
          <p:cNvSpPr/>
          <p:nvPr/>
        </p:nvSpPr>
        <p:spPr>
          <a:xfrm>
            <a:off x="481831" y="1535460"/>
            <a:ext cx="57150" cy="1353517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8" name="Text 5"/>
          <p:cNvSpPr/>
          <p:nvPr/>
        </p:nvSpPr>
        <p:spPr>
          <a:xfrm>
            <a:off x="666676" y="1663154"/>
            <a:ext cx="1835869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 Segment Dominates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6676" y="2108225"/>
            <a:ext cx="183586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Consumer segment contributes the highest share of total sales volume and order count across all periods.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20950" y="1535460"/>
            <a:ext cx="2134121" cy="1353517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1" name="Shape 8"/>
          <p:cNvSpPr/>
          <p:nvPr/>
        </p:nvSpPr>
        <p:spPr>
          <a:xfrm>
            <a:off x="2706663" y="1535460"/>
            <a:ext cx="57150" cy="1353517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2" name="Text 9"/>
          <p:cNvSpPr/>
          <p:nvPr/>
        </p:nvSpPr>
        <p:spPr>
          <a:xfrm>
            <a:off x="2891507" y="1663154"/>
            <a:ext cx="1835869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Leads Profitability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91507" y="2108225"/>
            <a:ext cx="183586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category consistently generates the highest profit margins, outperforming Furniture and Office Supplies.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2979688"/>
            <a:ext cx="2134121" cy="1353517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5" name="Shape 12"/>
          <p:cNvSpPr/>
          <p:nvPr/>
        </p:nvSpPr>
        <p:spPr>
          <a:xfrm>
            <a:off x="481831" y="2979688"/>
            <a:ext cx="57150" cy="1353517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6" name="Text 13"/>
          <p:cNvSpPr/>
          <p:nvPr/>
        </p:nvSpPr>
        <p:spPr>
          <a:xfrm>
            <a:off x="666676" y="3107382"/>
            <a:ext cx="1835869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West &amp; East Drive Revenue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6676" y="3552453"/>
            <a:ext cx="183586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Western and Eastern regions demonstrate the strongest sales performance with healthy profit contribution.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20950" y="2979688"/>
            <a:ext cx="2134121" cy="1353517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9" name="Shape 16"/>
          <p:cNvSpPr/>
          <p:nvPr/>
        </p:nvSpPr>
        <p:spPr>
          <a:xfrm>
            <a:off x="2706663" y="2979688"/>
            <a:ext cx="57150" cy="1353517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0" name="Text 17"/>
          <p:cNvSpPr/>
          <p:nvPr/>
        </p:nvSpPr>
        <p:spPr>
          <a:xfrm>
            <a:off x="2891507" y="3107382"/>
            <a:ext cx="218613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Discounts Erode Margins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891507" y="3375273"/>
            <a:ext cx="183586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Excessive discounting is a statistically validated driver of profit loss — a key risk area for the business.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505" y="1527944"/>
            <a:ext cx="2812852" cy="2812852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505" y="1527944"/>
            <a:ext cx="2812852" cy="28128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46137"/>
            <a:ext cx="1267123" cy="198611"/>
          </a:xfrm>
          <a:prstGeom prst="roundRect">
            <a:avLst>
              <a:gd name="adj" fmla="val 1918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33" y="700087"/>
            <a:ext cx="90711" cy="90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162" y="680145"/>
            <a:ext cx="1452265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DASHBOARD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880988"/>
            <a:ext cx="653191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Business Intelligence Dashboard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96119" y="1371377"/>
            <a:ext cx="8608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in </a:t>
            </a:r>
            <a:r>
              <a:rPr lang="en-US" sz="85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</a:t>
            </a:r>
            <a:r>
              <a:rPr lang="en-US" sz="85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 dynamic filtering — enabling business users to explore performance across any dimension in real time.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1738685"/>
            <a:ext cx="1923380" cy="844451"/>
          </a:xfrm>
          <a:prstGeom prst="roundRect">
            <a:avLst>
              <a:gd name="adj" fmla="val 564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14288" y="1856854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827" y="1950393"/>
            <a:ext cx="153070" cy="1530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4288" y="2287786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10210" y="1738685"/>
            <a:ext cx="1923455" cy="844451"/>
          </a:xfrm>
          <a:prstGeom prst="roundRect">
            <a:avLst>
              <a:gd name="adj" fmla="val 564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2628379" y="1856854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1918" y="1950393"/>
            <a:ext cx="153070" cy="1530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28379" y="2287786"/>
            <a:ext cx="187694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Sales Trend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6119" y="2673846"/>
            <a:ext cx="1923380" cy="844451"/>
          </a:xfrm>
          <a:prstGeom prst="roundRect">
            <a:avLst>
              <a:gd name="adj" fmla="val 564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614288" y="2792016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827" y="2885554"/>
            <a:ext cx="153070" cy="1530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4288" y="3222947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Heatmap Analysis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510210" y="2673846"/>
            <a:ext cx="1923455" cy="844451"/>
          </a:xfrm>
          <a:prstGeom prst="roundRect">
            <a:avLst>
              <a:gd name="adj" fmla="val 564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4"/>
          <p:cNvSpPr/>
          <p:nvPr/>
        </p:nvSpPr>
        <p:spPr>
          <a:xfrm>
            <a:off x="2628379" y="2792016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21918" y="2885554"/>
            <a:ext cx="153070" cy="15307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628379" y="3222947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Regional Sales Map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715098" y="1738685"/>
            <a:ext cx="1923380" cy="1021631"/>
          </a:xfrm>
          <a:prstGeom prst="roundRect">
            <a:avLst>
              <a:gd name="adj" fmla="val 46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7"/>
          <p:cNvSpPr/>
          <p:nvPr/>
        </p:nvSpPr>
        <p:spPr>
          <a:xfrm>
            <a:off x="4833268" y="1856854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6806" y="1950393"/>
            <a:ext cx="153070" cy="15307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33268" y="2287786"/>
            <a:ext cx="1687041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 Share Analysis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729189" y="1738685"/>
            <a:ext cx="1923455" cy="1021631"/>
          </a:xfrm>
          <a:prstGeom prst="roundRect">
            <a:avLst>
              <a:gd name="adj" fmla="val 46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0"/>
          <p:cNvSpPr/>
          <p:nvPr/>
        </p:nvSpPr>
        <p:spPr>
          <a:xfrm>
            <a:off x="6847359" y="1856854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40897" y="1950393"/>
            <a:ext cx="153070" cy="15307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47359" y="2287786"/>
            <a:ext cx="199898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Treemap Visualisation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4715098" y="2851026"/>
            <a:ext cx="1923380" cy="1021631"/>
          </a:xfrm>
          <a:prstGeom prst="roundRect">
            <a:avLst>
              <a:gd name="adj" fmla="val 46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3"/>
          <p:cNvSpPr/>
          <p:nvPr/>
        </p:nvSpPr>
        <p:spPr>
          <a:xfrm>
            <a:off x="4833268" y="2969196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6806" y="3062734"/>
            <a:ext cx="153070" cy="15307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833268" y="3400127"/>
            <a:ext cx="1687041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Discount Impact Analysis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6729189" y="2851026"/>
            <a:ext cx="1923455" cy="1021631"/>
          </a:xfrm>
          <a:prstGeom prst="roundRect">
            <a:avLst>
              <a:gd name="adj" fmla="val 46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26"/>
          <p:cNvSpPr/>
          <p:nvPr/>
        </p:nvSpPr>
        <p:spPr>
          <a:xfrm>
            <a:off x="6847359" y="2969196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40897" y="3062734"/>
            <a:ext cx="153070" cy="15307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847359" y="3400127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Filters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496119" y="4076700"/>
            <a:ext cx="8151763" cy="420663"/>
          </a:xfrm>
          <a:prstGeom prst="roundRect">
            <a:avLst>
              <a:gd name="adj" fmla="val 1132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26" y="4238253"/>
            <a:ext cx="141759" cy="113407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64691" y="4195763"/>
            <a:ext cx="812698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enables stakeholders to slice data by Category, Region, Segment, and Time Period — with zero SQL or coding required.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4011"/>
            <a:ext cx="1395487" cy="198611"/>
          </a:xfrm>
          <a:prstGeom prst="roundRect">
            <a:avLst>
              <a:gd name="adj" fmla="val 1918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33" y="477962"/>
            <a:ext cx="90711" cy="90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162" y="458019"/>
            <a:ext cx="1580629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VALIDATION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658862"/>
            <a:ext cx="610299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Hypothesis Testing — Discount vs. Profit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43" y="2213521"/>
            <a:ext cx="3150022" cy="144162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2246" y="2573455"/>
            <a:ext cx="202527" cy="20252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073207" y="3312804"/>
            <a:ext cx="819978" cy="113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 H₀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0809" y="2573835"/>
            <a:ext cx="202527" cy="20252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556510" y="3255843"/>
            <a:ext cx="591378" cy="22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T-Test Applied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9562" y="2573835"/>
            <a:ext cx="202526" cy="20252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815262" y="3255843"/>
            <a:ext cx="591378" cy="22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 Hypothesis</a:t>
            </a:r>
            <a:endParaRPr lang="en-US" sz="9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4264" y="2573835"/>
            <a:ext cx="202527" cy="20252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57813" y="3255843"/>
            <a:ext cx="591378" cy="22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Hypothesis</a:t>
            </a: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4715098" y="123996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Results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4715098" y="1519163"/>
            <a:ext cx="1923380" cy="1167333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7" name="Shape 9"/>
          <p:cNvSpPr/>
          <p:nvPr/>
        </p:nvSpPr>
        <p:spPr>
          <a:xfrm>
            <a:off x="4729386" y="1533451"/>
            <a:ext cx="1894805" cy="340221"/>
          </a:xfrm>
          <a:prstGeom prst="roundRect">
            <a:avLst>
              <a:gd name="adj" fmla="val 896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18" name="Text 10"/>
          <p:cNvSpPr/>
          <p:nvPr/>
        </p:nvSpPr>
        <p:spPr>
          <a:xfrm>
            <a:off x="4842793" y="196438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T-Statistic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4842793" y="2232273"/>
            <a:ext cx="1667991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16.14</a:t>
            </a: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Strong separation between groups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6729189" y="1519163"/>
            <a:ext cx="1923455" cy="1167333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1" name="Shape 13"/>
          <p:cNvSpPr/>
          <p:nvPr/>
        </p:nvSpPr>
        <p:spPr>
          <a:xfrm>
            <a:off x="6743477" y="1533451"/>
            <a:ext cx="1894880" cy="340221"/>
          </a:xfrm>
          <a:prstGeom prst="roundRect">
            <a:avLst>
              <a:gd name="adj" fmla="val 896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2" name="Text 14"/>
          <p:cNvSpPr/>
          <p:nvPr/>
        </p:nvSpPr>
        <p:spPr>
          <a:xfrm>
            <a:off x="6856884" y="196438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P-Value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856884" y="2232273"/>
            <a:ext cx="1668066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2.29e-54</a:t>
            </a: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Far below the 0.05 significance threshold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4715098" y="2788518"/>
            <a:ext cx="211060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Profit by Group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4715098" y="3067720"/>
            <a:ext cx="3937546" cy="863798"/>
          </a:xfrm>
          <a:prstGeom prst="roundRect">
            <a:avLst>
              <a:gd name="adj" fmla="val 551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6" name="Text 18"/>
          <p:cNvSpPr/>
          <p:nvPr/>
        </p:nvSpPr>
        <p:spPr>
          <a:xfrm>
            <a:off x="4833268" y="3131641"/>
            <a:ext cx="219201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799659" y="3131641"/>
            <a:ext cx="219201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Avg. Profit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833268" y="3417987"/>
            <a:ext cx="219201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Discount (≤ 20%)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799659" y="3417987"/>
            <a:ext cx="219201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$49.04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833268" y="3704332"/>
            <a:ext cx="219201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Discount (&gt; 20%)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799659" y="3704332"/>
            <a:ext cx="219201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-$97.18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715098" y="4033540"/>
            <a:ext cx="3937546" cy="583927"/>
          </a:xfrm>
          <a:prstGeom prst="roundRect">
            <a:avLst>
              <a:gd name="adj" fmla="val 8157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sz="240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505" y="4195093"/>
            <a:ext cx="141759" cy="11340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83671" y="4152602"/>
            <a:ext cx="3455566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 hypothesis rejected. High discounts significantly and measurably destroy profit margins.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8" y="867742"/>
            <a:ext cx="1446609" cy="214759"/>
          </a:xfrm>
          <a:prstGeom prst="roundRect">
            <a:avLst>
              <a:gd name="adj" fmla="val 188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75" y="926902"/>
            <a:ext cx="96366" cy="963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2887" y="903833"/>
            <a:ext cx="1446609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1123429"/>
            <a:ext cx="6028506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Business Recommendations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653555"/>
            <a:ext cx="4075881" cy="4819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595" y="2237929"/>
            <a:ext cx="2038796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Optimise Discounting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16595" y="2487588"/>
            <a:ext cx="383492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 discounts at ≤ 20% to protect margins. Implement approval workflows for high-value discount requests.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53555"/>
            <a:ext cx="4075881" cy="4819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92476" y="2237929"/>
            <a:ext cx="1978744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 in Technology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692476" y="2487588"/>
            <a:ext cx="383492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Double down on Technology products — they deliver the highest profitability and should anchor the growth portfolio.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964656"/>
            <a:ext cx="4075881" cy="4819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595" y="3549030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Regional Focus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16595" y="3798689"/>
            <a:ext cx="383492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Strengthen supply chain and marketing investment in West and East regions where profitability is highest.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964656"/>
            <a:ext cx="4075881" cy="4819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92476" y="3549030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Profit Margins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692476" y="3798689"/>
            <a:ext cx="383492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Shift KPI focus from top-line sales to profit margin — use the Tableau dashboard for continuous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7111" y="753219"/>
            <a:ext cx="32411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364605"/>
            <a:ext cx="8151763" cy="9004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4" name="Text 2"/>
          <p:cNvSpPr/>
          <p:nvPr/>
        </p:nvSpPr>
        <p:spPr>
          <a:xfrm>
            <a:off x="496119" y="1518865"/>
            <a:ext cx="6981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709291"/>
            <a:ext cx="4024685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6" name="Text 4"/>
          <p:cNvSpPr/>
          <p:nvPr/>
        </p:nvSpPr>
        <p:spPr>
          <a:xfrm>
            <a:off x="496119" y="1798067"/>
            <a:ext cx="3047033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 → Actionable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047726"/>
            <a:ext cx="40246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transformed 9,994 transactional records into clear, executive-ready business insights.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23197" y="1518865"/>
            <a:ext cx="6981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3197" y="1709291"/>
            <a:ext cx="4024685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0" name="Text 8"/>
          <p:cNvSpPr/>
          <p:nvPr/>
        </p:nvSpPr>
        <p:spPr>
          <a:xfrm>
            <a:off x="4623197" y="1798067"/>
            <a:ext cx="3048893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+ Storytelling + Statistics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3197" y="2047726"/>
            <a:ext cx="40246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Combined Python analytics, Tableau dashboards, and hypothesis testing for a rigorous, multi-layered analysis.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2597051"/>
            <a:ext cx="6981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2787476"/>
            <a:ext cx="4024685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4" name="Text 12"/>
          <p:cNvSpPr/>
          <p:nvPr/>
        </p:nvSpPr>
        <p:spPr>
          <a:xfrm>
            <a:off x="496119" y="2876252"/>
            <a:ext cx="2818358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Dashboard Delivered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125912"/>
            <a:ext cx="40246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fully interactive Tableau BI dashboard — empowering stakeholders to explore data independently.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3197" y="2597051"/>
            <a:ext cx="6981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3197" y="2787476"/>
            <a:ext cx="4024685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8" name="Text 16"/>
          <p:cNvSpPr/>
          <p:nvPr/>
        </p:nvSpPr>
        <p:spPr>
          <a:xfrm>
            <a:off x="4623197" y="2876252"/>
            <a:ext cx="303921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Decision-Ready Recommendations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23197" y="3125912"/>
            <a:ext cx="40246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five strategic business recommendations backed by statistical evidence and data storytelling.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270" y="3803228"/>
            <a:ext cx="8199611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000" i="1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"Data-driven insights enable smarter business strategies and sustainable growth."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7519" y="4211910"/>
            <a:ext cx="83803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Meghana D</a:t>
            </a:r>
            <a:r>
              <a:rPr lang="en-US" sz="1000" dirty="0">
                <a:solidFill>
                  <a:srgbClr val="27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Data Analytics Internship · ApexPlanet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Times New Roman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Times New Roman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638</Words>
  <Application>Microsoft Office PowerPoint</Application>
  <PresentationFormat>On-screen Show (16:9)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meghana D</cp:lastModifiedBy>
  <cp:revision>2</cp:revision>
  <dcterms:created xsi:type="dcterms:W3CDTF">2026-05-18T19:21:47Z</dcterms:created>
  <dcterms:modified xsi:type="dcterms:W3CDTF">2026-05-18T19:51:44Z</dcterms:modified>
</cp:coreProperties>
</file>